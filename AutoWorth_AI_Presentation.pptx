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0FBE9D0-C3C7-4944-A4E0-26F6532913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8AB96B9-03F2-48D1-B5DB-D40623DE86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578EFBB-371F-49AE-B1F5-296022EA8D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C77C67D-52ED-48E0-9613-A9C87B7E31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E52312C-ABA3-4949-B63A-1E66D694F6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4F2BC7C-11EA-4EF0-8A95-1A4BD44CEA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92D4388-6319-4660-A1A3-B1108556AA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E29066-E222-4A7F-9990-08B2508F0E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FF1EA1-C44F-4635-BD64-0CCD210852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0007E45-B4AA-4FE0-A955-5CDA9BEB49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52C9141-1DD8-462E-B8D9-E6CBF7BDE6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autoworth-ml.streamlit.app/" TargetMode="External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822960" y="7315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MACHINE LEARNING GRADUATION PROJECT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822960" y="1188720"/>
            <a:ext cx="10514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60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AutoWorth AI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822960" y="224028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Used Car Price Estimator &amp; Smart Deal Advisor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822960" y="3108960"/>
            <a:ext cx="7314480" cy="12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Student: Mohamed Ahmed Farouk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Supervisor: Eng. Fayrouz Ahmed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Telecom Egypt (WE) — Artificial Intelligence Course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October 2026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822960" y="4892040"/>
            <a:ext cx="3199680" cy="1279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822960" y="507492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0.968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914400" y="566928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Test R²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8"/>
          <p:cNvSpPr/>
          <p:nvPr/>
        </p:nvSpPr>
        <p:spPr>
          <a:xfrm>
            <a:off x="4389120" y="4892040"/>
            <a:ext cx="3199680" cy="1279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4389120" y="507492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6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£1,071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4480560" y="566928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Test MAE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11"/>
          <p:cNvSpPr/>
          <p:nvPr/>
        </p:nvSpPr>
        <p:spPr>
          <a:xfrm>
            <a:off x="7955280" y="4892040"/>
            <a:ext cx="3199680" cy="1279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7955280" y="507492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97k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8046720" y="566928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Cleaned listings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640080" y="4114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THE PROBLEM &amp; SOLUTION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640080" y="73152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Is this asking price actually fair?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640080" y="6400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AutoWorth AI  |  Mohamed Ahmed Farouk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10881360" y="640080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2 /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5"/>
          <p:cNvSpPr/>
          <p:nvPr/>
        </p:nvSpPr>
        <p:spPr>
          <a:xfrm>
            <a:off x="640080" y="1737360"/>
            <a:ext cx="5119920" cy="4296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6"/>
          <p:cNvSpPr/>
          <p:nvPr/>
        </p:nvSpPr>
        <p:spPr>
          <a:xfrm>
            <a:off x="640080" y="1965960"/>
            <a:ext cx="63360" cy="383976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914400" y="1920240"/>
            <a:ext cx="466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The Challenge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914400" y="2377440"/>
            <a:ext cx="466272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Used-car prices in the UK vary widely for near-identical cars.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Age, mileage, brand, engine and transmission all interact.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Buyers and sellers lack a quick, objective benchmark.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9"/>
          <p:cNvSpPr/>
          <p:nvPr/>
        </p:nvSpPr>
        <p:spPr>
          <a:xfrm>
            <a:off x="6126480" y="1737360"/>
            <a:ext cx="5394240" cy="4296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6400800" y="1920240"/>
            <a:ext cx="4845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The Dual-Engine Solution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Oval 11"/>
          <p:cNvSpPr/>
          <p:nvPr/>
        </p:nvSpPr>
        <p:spPr>
          <a:xfrm>
            <a:off x="6400800" y="2606040"/>
            <a:ext cx="547920" cy="54792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6400800" y="269748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3"/>
          <p:cNvSpPr/>
          <p:nvPr/>
        </p:nvSpPr>
        <p:spPr>
          <a:xfrm>
            <a:off x="7178040" y="258768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Fair-price prediction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4"/>
          <p:cNvSpPr/>
          <p:nvPr/>
        </p:nvSpPr>
        <p:spPr>
          <a:xfrm>
            <a:off x="7178040" y="3017520"/>
            <a:ext cx="4114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Tuned XGBoost regressor estimates the market price.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Oval 15"/>
          <p:cNvSpPr/>
          <p:nvPr/>
        </p:nvSpPr>
        <p:spPr>
          <a:xfrm>
            <a:off x="6400800" y="4251960"/>
            <a:ext cx="547920" cy="547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6"/>
          <p:cNvSpPr/>
          <p:nvPr/>
        </p:nvSpPr>
        <p:spPr>
          <a:xfrm>
            <a:off x="6400800" y="43434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7"/>
          <p:cNvSpPr/>
          <p:nvPr/>
        </p:nvSpPr>
        <p:spPr>
          <a:xfrm>
            <a:off x="7178040" y="423360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Smart Deal classification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8"/>
          <p:cNvSpPr/>
          <p:nvPr/>
        </p:nvSpPr>
        <p:spPr>
          <a:xfrm>
            <a:off x="7178040" y="4663440"/>
            <a:ext cx="4114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Compares the seller's price with the prediction and rates the deal.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640080" y="4114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DATA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640080" y="73152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Data Integration &amp; Cleaning Pipeline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640080" y="6400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AutoWorth AI  |  Mohamed Ahmed Farouk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10881360" y="640080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3 /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640080" y="1554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Source: Kaggle 100k UK Used Cars — 9 manufacturer files combined with a `make` column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6"/>
          <p:cNvSpPr/>
          <p:nvPr/>
        </p:nvSpPr>
        <p:spPr>
          <a:xfrm>
            <a:off x="640080" y="2103120"/>
            <a:ext cx="3291120" cy="1370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640080" y="2286000"/>
            <a:ext cx="32911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99,187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731520" y="297180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Raw listings (9 files)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3977640" y="2514600"/>
            <a:ext cx="63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10"/>
          <p:cNvSpPr/>
          <p:nvPr/>
        </p:nvSpPr>
        <p:spPr>
          <a:xfrm>
            <a:off x="4663440" y="2103120"/>
            <a:ext cx="3291120" cy="1370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1"/>
          <p:cNvSpPr/>
          <p:nvPr/>
        </p:nvSpPr>
        <p:spPr>
          <a:xfrm>
            <a:off x="4663440" y="2286000"/>
            <a:ext cx="32911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97,050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2"/>
          <p:cNvSpPr/>
          <p:nvPr/>
        </p:nvSpPr>
        <p:spPr>
          <a:xfrm>
            <a:off x="4754880" y="297180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Clean listings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3"/>
          <p:cNvSpPr/>
          <p:nvPr/>
        </p:nvSpPr>
        <p:spPr>
          <a:xfrm>
            <a:off x="8321040" y="2103120"/>
            <a:ext cx="3199680" cy="13708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14"/>
          <p:cNvSpPr/>
          <p:nvPr/>
        </p:nvSpPr>
        <p:spPr>
          <a:xfrm>
            <a:off x="8321040" y="2331720"/>
            <a:ext cx="63360" cy="91368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5"/>
          <p:cNvSpPr/>
          <p:nvPr/>
        </p:nvSpPr>
        <p:spPr>
          <a:xfrm>
            <a:off x="8595360" y="2331720"/>
            <a:ext cx="28339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2,137 rows removed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(1,475 exact duplicates)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7" name="Table 16"/>
          <p:cNvGraphicFramePr/>
          <p:nvPr/>
        </p:nvGraphicFramePr>
        <p:xfrm>
          <a:off x="640080" y="3794760"/>
          <a:ext cx="10881000" cy="2412720"/>
        </p:xfrm>
        <a:graphic>
          <a:graphicData uri="http://schemas.openxmlformats.org/drawingml/2006/table">
            <a:tbl>
              <a:tblPr/>
              <a:tblGrid>
                <a:gridCol w="6766560"/>
                <a:gridCol w="2011680"/>
                <a:gridCol w="2103120"/>
              </a:tblGrid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Issue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Action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Rows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Exact duplicate rows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Dropped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1,475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Anomalous years (e.g. 2060, 1970); kept 1995–2020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Dropped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Engine size = 0.0 (missing data encoded as zero)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Dropped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267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Price outside £1k–£80k · rare fuel/transmission · mileage outliers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Dropped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122 · 257 · 13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MPG &gt; 120 (optimistic hybrid figures)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Capped at 120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503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640080" y="4114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EDA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640080" y="73152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Exploratory Data Analysis — Key Insights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640080" y="6400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AutoWorth AI  |  Mohamed Ahmed Farouk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10881360" y="640080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4 /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5"/>
          <p:cNvSpPr/>
          <p:nvPr/>
        </p:nvSpPr>
        <p:spPr>
          <a:xfrm>
            <a:off x="640080" y="1737360"/>
            <a:ext cx="5302800" cy="2102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6"/>
          <p:cNvSpPr/>
          <p:nvPr/>
        </p:nvSpPr>
        <p:spPr>
          <a:xfrm>
            <a:off x="640080" y="1965960"/>
            <a:ext cx="63360" cy="16452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914400" y="1920240"/>
            <a:ext cx="4845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Right-skewed prices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914400" y="2377440"/>
            <a:ext cx="48456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Most cars sit below £25k; a long tail of premium cars would distort non-robust metrics.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9"/>
          <p:cNvSpPr/>
          <p:nvPr/>
        </p:nvSpPr>
        <p:spPr>
          <a:xfrm>
            <a:off x="6217920" y="1737360"/>
            <a:ext cx="5302800" cy="2102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10"/>
          <p:cNvSpPr/>
          <p:nvPr/>
        </p:nvSpPr>
        <p:spPr>
          <a:xfrm>
            <a:off x="6217920" y="1965960"/>
            <a:ext cx="63360" cy="1645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1"/>
          <p:cNvSpPr/>
          <p:nvPr/>
        </p:nvSpPr>
        <p:spPr>
          <a:xfrm>
            <a:off x="6492240" y="1920240"/>
            <a:ext cx="4845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Non-linear mileage decay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2"/>
          <p:cNvSpPr/>
          <p:nvPr/>
        </p:nvSpPr>
        <p:spPr>
          <a:xfrm>
            <a:off x="6492240" y="2377440"/>
            <a:ext cx="48456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Price drops steeply in the first miles, then flattens. Correlation with mileage: −0.43.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3"/>
          <p:cNvSpPr/>
          <p:nvPr/>
        </p:nvSpPr>
        <p:spPr>
          <a:xfrm>
            <a:off x="640080" y="4023360"/>
            <a:ext cx="5302800" cy="2102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14"/>
          <p:cNvSpPr/>
          <p:nvPr/>
        </p:nvSpPr>
        <p:spPr>
          <a:xfrm>
            <a:off x="640080" y="4251960"/>
            <a:ext cx="63360" cy="164520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5"/>
          <p:cNvSpPr/>
          <p:nvPr/>
        </p:nvSpPr>
        <p:spPr>
          <a:xfrm>
            <a:off x="914400" y="4206240"/>
            <a:ext cx="4845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German luxury premium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6"/>
          <p:cNvSpPr/>
          <p:nvPr/>
        </p:nvSpPr>
        <p:spPr>
          <a:xfrm>
            <a:off x="914400" y="4663440"/>
            <a:ext cx="48456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Mercedes, BMW and Audi top the median price by make — brand acts as a price tier.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7"/>
          <p:cNvSpPr/>
          <p:nvPr/>
        </p:nvSpPr>
        <p:spPr>
          <a:xfrm>
            <a:off x="6217920" y="4023360"/>
            <a:ext cx="5302800" cy="2102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18"/>
          <p:cNvSpPr/>
          <p:nvPr/>
        </p:nvSpPr>
        <p:spPr>
          <a:xfrm>
            <a:off x="6217920" y="4251960"/>
            <a:ext cx="63360" cy="16452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19"/>
          <p:cNvSpPr/>
          <p:nvPr/>
        </p:nvSpPr>
        <p:spPr>
          <a:xfrm>
            <a:off x="6492240" y="4206240"/>
            <a:ext cx="4845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Automatic premium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0"/>
          <p:cNvSpPr/>
          <p:nvPr/>
        </p:nvSpPr>
        <p:spPr>
          <a:xfrm>
            <a:off x="6492240" y="4663440"/>
            <a:ext cx="48456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Automatic and semi-auto listings sit well above manual in price.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1"/>
          <p:cNvSpPr/>
          <p:nvPr/>
        </p:nvSpPr>
        <p:spPr>
          <a:xfrm>
            <a:off x="640080" y="6035040"/>
            <a:ext cx="109720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640080" y="4114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METHODOLOGY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640080" y="73152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Leakage Prevention &amp; Feature Engineering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640080" y="6400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AutoWorth AI  |  Mohamed Ahmed Farouk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10881360" y="640080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5 /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640080" y="1554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Split BEFORE any preprocessing — scalers and encoders are fit on the training set only.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6"/>
          <p:cNvSpPr/>
          <p:nvPr/>
        </p:nvSpPr>
        <p:spPr>
          <a:xfrm>
            <a:off x="640080" y="2011680"/>
            <a:ext cx="3474000" cy="1279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640080" y="2194560"/>
            <a:ext cx="3474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70%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731520" y="278892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Train · 67,935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9"/>
          <p:cNvSpPr/>
          <p:nvPr/>
        </p:nvSpPr>
        <p:spPr>
          <a:xfrm>
            <a:off x="4389120" y="2011680"/>
            <a:ext cx="3474000" cy="1279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4389120" y="2194560"/>
            <a:ext cx="3474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15%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4480560" y="278892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Validation · 14,557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12"/>
          <p:cNvSpPr/>
          <p:nvPr/>
        </p:nvSpPr>
        <p:spPr>
          <a:xfrm>
            <a:off x="8138160" y="2011680"/>
            <a:ext cx="3474000" cy="12794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3"/>
          <p:cNvSpPr/>
          <p:nvPr/>
        </p:nvSpPr>
        <p:spPr>
          <a:xfrm>
            <a:off x="8138160" y="2194560"/>
            <a:ext cx="3474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4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15%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8229600" y="278892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Test · 14,558 (untouched)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640080" y="361188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4 domain features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16"/>
          <p:cNvSpPr/>
          <p:nvPr/>
        </p:nvSpPr>
        <p:spPr>
          <a:xfrm>
            <a:off x="640080" y="4114800"/>
            <a:ext cx="5302800" cy="867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17"/>
          <p:cNvSpPr/>
          <p:nvPr/>
        </p:nvSpPr>
        <p:spPr>
          <a:xfrm>
            <a:off x="640080" y="4343400"/>
            <a:ext cx="63360" cy="410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8"/>
          <p:cNvSpPr/>
          <p:nvPr/>
        </p:nvSpPr>
        <p:spPr>
          <a:xfrm>
            <a:off x="914400" y="4251960"/>
            <a:ext cx="4845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car_age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9"/>
          <p:cNvSpPr/>
          <p:nvPr/>
        </p:nvSpPr>
        <p:spPr>
          <a:xfrm>
            <a:off x="914400" y="4590360"/>
            <a:ext cx="4845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2020 − year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20"/>
          <p:cNvSpPr/>
          <p:nvPr/>
        </p:nvSpPr>
        <p:spPr>
          <a:xfrm>
            <a:off x="6217920" y="4114800"/>
            <a:ext cx="5302800" cy="867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21"/>
          <p:cNvSpPr/>
          <p:nvPr/>
        </p:nvSpPr>
        <p:spPr>
          <a:xfrm>
            <a:off x="6217920" y="4343400"/>
            <a:ext cx="63360" cy="410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2"/>
          <p:cNvSpPr/>
          <p:nvPr/>
        </p:nvSpPr>
        <p:spPr>
          <a:xfrm>
            <a:off x="6492240" y="4251960"/>
            <a:ext cx="4845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mileage_per_year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3"/>
          <p:cNvSpPr/>
          <p:nvPr/>
        </p:nvSpPr>
        <p:spPr>
          <a:xfrm>
            <a:off x="6492240" y="4590360"/>
            <a:ext cx="4845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mileage / max(car_age, 1)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24"/>
          <p:cNvSpPr/>
          <p:nvPr/>
        </p:nvSpPr>
        <p:spPr>
          <a:xfrm>
            <a:off x="640080" y="5166360"/>
            <a:ext cx="5302800" cy="867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25"/>
          <p:cNvSpPr/>
          <p:nvPr/>
        </p:nvSpPr>
        <p:spPr>
          <a:xfrm>
            <a:off x="640080" y="5394960"/>
            <a:ext cx="63360" cy="410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6"/>
          <p:cNvSpPr/>
          <p:nvPr/>
        </p:nvSpPr>
        <p:spPr>
          <a:xfrm>
            <a:off x="914400" y="5303520"/>
            <a:ext cx="4845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is_premium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7"/>
          <p:cNvSpPr/>
          <p:nvPr/>
        </p:nvSpPr>
        <p:spPr>
          <a:xfrm>
            <a:off x="914400" y="5641920"/>
            <a:ext cx="4845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 if Audi, BMW or Mercedes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28"/>
          <p:cNvSpPr/>
          <p:nvPr/>
        </p:nvSpPr>
        <p:spPr>
          <a:xfrm>
            <a:off x="6217920" y="5166360"/>
            <a:ext cx="5302800" cy="867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ectangle 29"/>
          <p:cNvSpPr/>
          <p:nvPr/>
        </p:nvSpPr>
        <p:spPr>
          <a:xfrm>
            <a:off x="6217920" y="5394960"/>
            <a:ext cx="63360" cy="4107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30"/>
          <p:cNvSpPr/>
          <p:nvPr/>
        </p:nvSpPr>
        <p:spPr>
          <a:xfrm>
            <a:off x="6492240" y="5303520"/>
            <a:ext cx="4845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engine_efficiency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1"/>
          <p:cNvSpPr/>
          <p:nvPr/>
        </p:nvSpPr>
        <p:spPr>
          <a:xfrm>
            <a:off x="6492240" y="5641920"/>
            <a:ext cx="4845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mpg / engineSize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Box 1"/>
          <p:cNvSpPr/>
          <p:nvPr/>
        </p:nvSpPr>
        <p:spPr>
          <a:xfrm>
            <a:off x="640080" y="4114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MODELLING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640080" y="73152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Model Benchmarking (Validation Set)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640080" y="6400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AutoWorth AI  |  Mohamed Ahmed Farouk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10881360" y="640080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6 /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4" name="Table 5"/>
          <p:cNvGraphicFramePr/>
          <p:nvPr/>
        </p:nvGraphicFramePr>
        <p:xfrm>
          <a:off x="640080" y="1737360"/>
          <a:ext cx="10881000" cy="339984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2011680"/>
                <a:gridCol w="2011680"/>
                <a:gridCol w="1828800"/>
              </a:tblGrid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Model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Val R²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Val MAE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Val RMSE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Overfit gap (R²)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Random Forest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B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0.9611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B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£1,174.90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B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£1,847.52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B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0.0209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B4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Baseline XGBoost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0.9540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£1,345.04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£2,008.98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0.0081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Decision Tree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0.9401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£1,404.99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£2,291.93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0.0235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Gradient Boosting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0.8951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£2,124.89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£3,032.69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0.0062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Linear Regression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0.8870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£2,099.08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£3,147.67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0.0069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65" name="TextBox 6"/>
          <p:cNvSpPr/>
          <p:nvPr/>
        </p:nvSpPr>
        <p:spPr>
          <a:xfrm>
            <a:off x="640080" y="5349240"/>
            <a:ext cx="108806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Tree ensembles beat linear models because price depends on interactions (e.g. mileage hurts an old premium car more). Random Forest led before tuning; boosted trees were chosen for tuning.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"/>
          <p:cNvSpPr/>
          <p:nvPr/>
        </p:nvSpPr>
        <p:spPr>
          <a:xfrm>
            <a:off x="640080" y="4114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MODELLING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640080" y="73152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Model Optimization &amp; Tuning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640080" y="6400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AutoWorth AI  |  Mohamed Ahmed Farouk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10881360" y="640080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7 /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5"/>
          <p:cNvSpPr/>
          <p:nvPr/>
        </p:nvSpPr>
        <p:spPr>
          <a:xfrm>
            <a:off x="640080" y="1737360"/>
            <a:ext cx="4571280" cy="4388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6"/>
          <p:cNvSpPr/>
          <p:nvPr/>
        </p:nvSpPr>
        <p:spPr>
          <a:xfrm>
            <a:off x="640080" y="1965960"/>
            <a:ext cx="63360" cy="39312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7"/>
          <p:cNvSpPr/>
          <p:nvPr/>
        </p:nvSpPr>
        <p:spPr>
          <a:xfrm>
            <a:off x="914400" y="192024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RandomizedSearchCV — XGBoost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8"/>
          <p:cNvSpPr/>
          <p:nvPr/>
        </p:nvSpPr>
        <p:spPr>
          <a:xfrm>
            <a:off x="914400" y="2377440"/>
            <a:ext cx="41140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n_estimators = 300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max_depth = 10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learning_rate = 0.1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subsample = 0.9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colsample_bytree = 0.8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min_child_weight = 5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10 candidates × 3-fold CV (30 fits)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4" name="Table 9"/>
          <p:cNvGraphicFramePr/>
          <p:nvPr/>
        </p:nvGraphicFramePr>
        <p:xfrm>
          <a:off x="5486400" y="1737360"/>
          <a:ext cx="6034680" cy="226656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371600"/>
                <a:gridCol w="1371600"/>
              </a:tblGrid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Stage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R²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MAE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RMSE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Baseline (Val)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0.9540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£1,345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£2,009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Tuned (Val)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0.9669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£1,083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£1,703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Tuned (Test)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B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0.968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B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£1,071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B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£1,654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3B4F"/>
                    </a:solidFill>
                  </a:tcPr>
                </a:tc>
              </a:tr>
            </a:tbl>
          </a:graphicData>
        </a:graphic>
      </p:graphicFrame>
      <p:sp>
        <p:nvSpPr>
          <p:cNvPr id="175" name="Rounded Rectangle 10"/>
          <p:cNvSpPr/>
          <p:nvPr/>
        </p:nvSpPr>
        <p:spPr>
          <a:xfrm>
            <a:off x="5486400" y="4297680"/>
            <a:ext cx="6034320" cy="1828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11"/>
          <p:cNvSpPr/>
          <p:nvPr/>
        </p:nvSpPr>
        <p:spPr>
          <a:xfrm>
            <a:off x="5486400" y="4526280"/>
            <a:ext cx="63360" cy="13708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12"/>
          <p:cNvSpPr/>
          <p:nvPr/>
        </p:nvSpPr>
        <p:spPr>
          <a:xfrm>
            <a:off x="5760720" y="4526280"/>
            <a:ext cx="54856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Tuning cut validation MAE by about £262.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Final held-out Test: R² 0.968 · MAE £1,070.87 · RMSE £1,654.05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Train–test gap is small, so the model generalises.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/>
          <p:nvPr/>
        </p:nvSpPr>
        <p:spPr>
          <a:xfrm>
            <a:off x="640080" y="4114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INTERPRETATION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640080" y="73152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Explainability &amp; Residual Diagnostics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640080" y="6400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AutoWorth AI  |  Mohamed Ahmed Farouk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"/>
          <p:cNvSpPr/>
          <p:nvPr/>
        </p:nvSpPr>
        <p:spPr>
          <a:xfrm>
            <a:off x="10881360" y="640080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8 /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5"/>
          <p:cNvSpPr/>
          <p:nvPr/>
        </p:nvSpPr>
        <p:spPr>
          <a:xfrm>
            <a:off x="640080" y="1737360"/>
            <a:ext cx="4571280" cy="4388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6"/>
          <p:cNvSpPr/>
          <p:nvPr/>
        </p:nvSpPr>
        <p:spPr>
          <a:xfrm>
            <a:off x="640080" y="1965960"/>
            <a:ext cx="63360" cy="39312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914400" y="192024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Top feature importances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8"/>
          <p:cNvSpPr/>
          <p:nvPr/>
        </p:nvSpPr>
        <p:spPr>
          <a:xfrm>
            <a:off x="914400" y="2377440"/>
            <a:ext cx="41140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1. Transmission (manual)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2. is_premium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3. Engine size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4. Engine efficiency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5. Car age / year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Specific models (e.g. X7, i8) and brands follow — matching the EDA.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9"/>
          <p:cNvSpPr/>
          <p:nvPr/>
        </p:nvSpPr>
        <p:spPr>
          <a:xfrm>
            <a:off x="5486400" y="1737360"/>
            <a:ext cx="6034320" cy="2102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10"/>
          <p:cNvSpPr/>
          <p:nvPr/>
        </p:nvSpPr>
        <p:spPr>
          <a:xfrm>
            <a:off x="5486400" y="1965960"/>
            <a:ext cx="63360" cy="16452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1"/>
          <p:cNvSpPr/>
          <p:nvPr/>
        </p:nvSpPr>
        <p:spPr>
          <a:xfrm>
            <a:off x="5760720" y="1920240"/>
            <a:ext cx="5577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Residual trend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2"/>
          <p:cNvSpPr/>
          <p:nvPr/>
        </p:nvSpPr>
        <p:spPr>
          <a:xfrm>
            <a:off x="5760720" y="2377440"/>
            <a:ext cx="55771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Actual-vs-predicted points hug the diagonal. Errors fan out at high prices — expensive cars are harder to price.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13"/>
          <p:cNvSpPr/>
          <p:nvPr/>
        </p:nvSpPr>
        <p:spPr>
          <a:xfrm>
            <a:off x="5486400" y="4023360"/>
            <a:ext cx="6034320" cy="2102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14"/>
          <p:cNvSpPr/>
          <p:nvPr/>
        </p:nvSpPr>
        <p:spPr>
          <a:xfrm>
            <a:off x="5486400" y="4251960"/>
            <a:ext cx="63360" cy="164520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15"/>
          <p:cNvSpPr/>
          <p:nvPr/>
        </p:nvSpPr>
        <p:spPr>
          <a:xfrm>
            <a:off x="5760720" y="4206240"/>
            <a:ext cx="5577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Largest misses: high-performance trims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6"/>
          <p:cNvSpPr/>
          <p:nvPr/>
        </p:nvSpPr>
        <p:spPr>
          <a:xfrm>
            <a:off x="5760720" y="4663440"/>
            <a:ext cx="55771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BMW M4 (2016): actual £76,990 vs predicted £36,079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Audi A8 (2020): actual £78,990 vs predicted £53,467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The `model` column cannot capture trims such as AMG or M Sport.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Box 1"/>
          <p:cNvSpPr/>
          <p:nvPr/>
        </p:nvSpPr>
        <p:spPr>
          <a:xfrm>
            <a:off x="640080" y="4114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DEPLOYMENT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640080" y="73152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Productization &amp; Smart Deal Advisor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640080" y="6400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AutoWorth AI  |  Mohamed Ahmed Farouk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4"/>
          <p:cNvSpPr/>
          <p:nvPr/>
        </p:nvSpPr>
        <p:spPr>
          <a:xfrm>
            <a:off x="10881360" y="640080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9 /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640080" y="155448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Streamlit web app: enter car details + seller price, get instant verdict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9" name="Table 6"/>
          <p:cNvGraphicFramePr/>
          <p:nvPr/>
        </p:nvGraphicFramePr>
        <p:xfrm>
          <a:off x="640080" y="2011680"/>
          <a:ext cx="6034680" cy="301752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Rating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Calibri"/>
                        </a:rPr>
                        <a:t>Rule (seller vs predicted)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Great Deal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More than 10% cheaper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Good Deal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5–10% cheaper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Fair Price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Within ±5%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Slightly Overpriced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5–10% more expensive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Overpriced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Calibri"/>
                        </a:rPr>
                        <a:t>More than 10% above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200" name="Picture 7" descr="autoworth_screenshot.png"/>
          <p:cNvPicPr/>
          <p:nvPr/>
        </p:nvPicPr>
        <p:blipFill>
          <a:blip r:embed="rId1"/>
          <a:stretch/>
        </p:blipFill>
        <p:spPr>
          <a:xfrm>
            <a:off x="7040880" y="2011680"/>
            <a:ext cx="4479840" cy="3022200"/>
          </a:xfrm>
          <a:prstGeom prst="rect">
            <a:avLst/>
          </a:prstGeom>
          <a:noFill/>
          <a:ln w="19050">
            <a:solidFill>
              <a:srgbClr val="10B981"/>
            </a:solidFill>
            <a:round/>
          </a:ln>
        </p:spPr>
      </p:pic>
      <p:sp>
        <p:nvSpPr>
          <p:cNvPr id="201" name="TextBox 8"/>
          <p:cNvSpPr/>
          <p:nvPr/>
        </p:nvSpPr>
        <p:spPr>
          <a:xfrm>
            <a:off x="7011000" y="5068800"/>
            <a:ext cx="447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Live app: Audi A1 (2017) at £18,500 vs £20,686 estimated → Great Deal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9"/>
          <p:cNvSpPr/>
          <p:nvPr/>
        </p:nvSpPr>
        <p:spPr>
          <a:xfrm>
            <a:off x="640080" y="5394960"/>
            <a:ext cx="10880640" cy="867960"/>
          </a:xfrm>
          <a:prstGeom prst="roundRect">
            <a:avLst>
              <a:gd name="adj" fmla="val 6000"/>
            </a:avLst>
          </a:prstGeom>
          <a:solidFill>
            <a:srgbClr val="0B3B4F"/>
          </a:solidFill>
          <a:ln w="12700">
            <a:solidFill>
              <a:srgbClr val="38BDF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10"/>
          <p:cNvSpPr/>
          <p:nvPr/>
        </p:nvSpPr>
        <p:spPr>
          <a:xfrm>
            <a:off x="914400" y="546804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LIVE DEMO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1"/>
          <p:cNvSpPr/>
          <p:nvPr/>
        </p:nvSpPr>
        <p:spPr>
          <a:xfrm>
            <a:off x="914400" y="5760720"/>
            <a:ext cx="10332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sng" strike="noStrike">
                <a:solidFill>
                  <a:srgbClr val="0000FF"/>
                </a:solidFill>
                <a:effectLst/>
                <a:uFillTx/>
                <a:latin typeface="Calibri"/>
                <a:hlinkClick r:id="rId2"/>
              </a:rPr>
              <a:t>https://autoworth-ml.streamlit.app/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640080" y="4114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WRAP-UP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640080" y="731520"/>
            <a:ext cx="10880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Conclusion, Business Impact &amp; Next Steps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3"/>
          <p:cNvSpPr/>
          <p:nvPr/>
        </p:nvSpPr>
        <p:spPr>
          <a:xfrm>
            <a:off x="640080" y="6400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AutoWorth AI  |  Mohamed Ahmed Farouk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10881360" y="6400800"/>
            <a:ext cx="730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10 / 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5"/>
          <p:cNvSpPr/>
          <p:nvPr/>
        </p:nvSpPr>
        <p:spPr>
          <a:xfrm>
            <a:off x="640080" y="1737360"/>
            <a:ext cx="3474000" cy="3931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6"/>
          <p:cNvSpPr/>
          <p:nvPr/>
        </p:nvSpPr>
        <p:spPr>
          <a:xfrm>
            <a:off x="640080" y="1965960"/>
            <a:ext cx="63360" cy="3474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7"/>
          <p:cNvSpPr/>
          <p:nvPr/>
        </p:nvSpPr>
        <p:spPr>
          <a:xfrm>
            <a:off x="914400" y="192024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38BDF8"/>
                </a:solidFill>
                <a:effectLst/>
                <a:uFillTx/>
                <a:latin typeface="Calibri"/>
              </a:rPr>
              <a:t>Robust pipeline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8"/>
          <p:cNvSpPr/>
          <p:nvPr/>
        </p:nvSpPr>
        <p:spPr>
          <a:xfrm>
            <a:off x="914400" y="2377440"/>
            <a:ext cx="301680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Leakage-safe split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Documented cleaning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Test R² 0.968, MAE £1,070.87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Small train–test gap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9"/>
          <p:cNvSpPr/>
          <p:nvPr/>
        </p:nvSpPr>
        <p:spPr>
          <a:xfrm>
            <a:off x="4343400" y="1737360"/>
            <a:ext cx="3474000" cy="3931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ectangle 10"/>
          <p:cNvSpPr/>
          <p:nvPr/>
        </p:nvSpPr>
        <p:spPr>
          <a:xfrm>
            <a:off x="4343400" y="1965960"/>
            <a:ext cx="63360" cy="34740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1"/>
          <p:cNvSpPr/>
          <p:nvPr/>
        </p:nvSpPr>
        <p:spPr>
          <a:xfrm>
            <a:off x="4617720" y="192024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Business impact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2"/>
          <p:cNvSpPr/>
          <p:nvPr/>
        </p:nvSpPr>
        <p:spPr>
          <a:xfrm>
            <a:off x="4617720" y="2377440"/>
            <a:ext cx="301680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Buyers: spot bargains and avoid overpaying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Sellers: price listings competitively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Instant, objective verdicts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13"/>
          <p:cNvSpPr/>
          <p:nvPr/>
        </p:nvSpPr>
        <p:spPr>
          <a:xfrm>
            <a:off x="8046720" y="1737360"/>
            <a:ext cx="3474000" cy="39312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14"/>
          <p:cNvSpPr/>
          <p:nvPr/>
        </p:nvSpPr>
        <p:spPr>
          <a:xfrm>
            <a:off x="8046720" y="1965960"/>
            <a:ext cx="63360" cy="347400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5"/>
          <p:cNvSpPr/>
          <p:nvPr/>
        </p:nvSpPr>
        <p:spPr>
          <a:xfrm>
            <a:off x="8321040" y="1920240"/>
            <a:ext cx="3016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FBBF24"/>
                </a:solidFill>
                <a:effectLst/>
                <a:uFillTx/>
                <a:latin typeface="Calibri"/>
              </a:rPr>
              <a:t>Next steps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6"/>
          <p:cNvSpPr/>
          <p:nvPr/>
        </p:nvSpPr>
        <p:spPr>
          <a:xfrm>
            <a:off x="8321040" y="2377440"/>
            <a:ext cx="301680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Parse trims (AMG, M Sport) to fix high-end misses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Add location data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Retrain on fresh listings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7"/>
          <p:cNvSpPr/>
          <p:nvPr/>
        </p:nvSpPr>
        <p:spPr>
          <a:xfrm>
            <a:off x="640080" y="585216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LibreOffice/26.2.6.3$Windows_X86_64 LibreOffice_project/8221e31b3ac356a1623c672912a3d2b492f7e3d1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2026-10-05T01:46:43Z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